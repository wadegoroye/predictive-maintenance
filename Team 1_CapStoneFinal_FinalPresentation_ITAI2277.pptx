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8" r:id="rId7"/>
    <p:sldId id="269" r:id="rId8"/>
    <p:sldId id="266" r:id="rId9"/>
    <p:sldId id="267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/>
    <p:restoredTop sz="94694"/>
  </p:normalViewPr>
  <p:slideViewPr>
    <p:cSldViewPr snapToGrid="0">
      <p:cViewPr varScale="1">
        <p:scale>
          <a:sx n="70" d="100"/>
          <a:sy n="70" d="100"/>
        </p:scale>
        <p:origin x="240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9899-D17D-3C50-E615-3C80C3CA5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E8355-B7E6-D627-A90A-4F00572A9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F28DB-3DF8-2CF9-6B3C-3B3F3130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2A5D6-C060-37D2-763E-9DCDAC71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FA944-FC79-F516-57B3-AA4692BB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FD7D-90F5-F7C2-FB43-951D0892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D781-49F2-C3D8-E737-77740CF02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63E7F-0F29-AE39-4548-1ED5D1B5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9EF32-3C04-D3F2-52E2-7F5BD2F1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811F-6AAD-29B5-C385-85DCE3F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257A-FD22-1224-559A-3989156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44F14-4039-E692-8C6E-027A1D180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7639-AEE0-AFD4-BFA8-E49B6810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C49A-F978-FAD2-92B0-3AC1F0FA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21F3F-0C60-72F9-36AA-E78A0109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C843-11B8-6988-F5B9-D63E036C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10DAF-F537-0971-FD15-973A29386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73AC6-09C5-7B9C-DA8E-924E416BF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204F-7981-81B0-616D-AED305B6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B95E7-F6FF-5467-F5AC-13A7B0F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DD87-694C-3FD0-4F90-C5A758C7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0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6F42-8DBF-C9F8-0E02-7F1B762A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1D2CE-22B0-F525-4E2C-D25B4229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E7264-854B-E149-D336-49029EEC6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19122-F3FC-E9BF-5933-5F7BEDA90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1A693-FA1F-7479-1975-CE824799A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3AB47-F388-248A-3346-F5C6FC6B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58EE9D-985B-C490-AECA-3B298014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C193A-E70D-94BD-40BD-92A3B92B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8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9988-307F-2641-E829-273C2D26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3BC5B-2F2F-53B5-2E57-8D0053F3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74932-49E7-0531-F76D-8E8A1036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5707C-845E-8222-4ADE-4B5DFB6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825E9-C49B-D1E3-11F4-97D763FC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05A59-C03B-2872-1A64-7F822857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A99D8-682D-37E0-BF67-C20F87D9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3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F318-7D2E-F08A-4061-083188E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E7057-766A-6AE6-8D1C-6AD9079C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2C8D9-D097-65BD-D1B4-5FEFDD550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7DFCC-563B-7F78-0086-BB0A8DC9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8898-0F16-BF7B-921E-4EA11CBD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B2DA4-9F39-F50D-80B4-0B3AA40B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4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C13B-8C79-160B-2C1A-20412752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6AA25-07D9-8933-E235-656E20B19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B3679-6F5E-9FA0-EF8D-92795A5C5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4346B-B5E1-2095-3DBD-BACBFA5C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6F873-9762-3068-CF55-DDE0A9C3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9BDA3-2C8A-C20B-E925-65119023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69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CBDA-B4BF-F871-C41D-2CB34C85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EB0BD-C16A-3EDD-4527-A97753B5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E2031-8767-C6AD-89A7-DEBCA51D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B5699-F98E-8D20-FEE4-C1F7CB4B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F104-E9C7-F567-742B-62122C5C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6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E8FAE-4626-1862-9890-1C9E66EC3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CCDE7-7E69-D6BE-EFCD-02407A116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79659-51EA-72ED-C94B-42A14F9C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D51C-6A68-E76B-EFE1-BEE8BD9C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1C2C4-FAC4-D403-1EBB-6872ED72C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1602F8-7E64-5B23-F505-0AB487B9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64A38-C9DC-7A08-C54A-F20F894BB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AF3B-2C7F-0CD8-F179-6C623AC2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8A5A5-4ABE-2642-AF43-756FD8BBA6CD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FBCAA-7107-6385-1F2E-3FA7C6A9F4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0762-B332-A4D9-24F4-E927F0A02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43A8E-6667-6D40-AEE4-C4BB244C3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8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rahcirSnave/Predictive-Maintenance-Capstone-202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rahcirSnave/Predictive-Maintenance-Capston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chine in a laboratory">
            <a:extLst>
              <a:ext uri="{FF2B5EF4-FFF2-40B4-BE49-F238E27FC236}">
                <a16:creationId xmlns:a16="http://schemas.microsoft.com/office/drawing/2014/main" id="{67A4DC15-0669-1122-A3E9-5A7E2DA459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225" b="45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73916D-428F-2C35-99BF-01B9C507E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2133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AI-Powered Predictive Maintenance System for Industrial Equipment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B1DFE-650B-BD02-93A8-7FBE78145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3575350"/>
            <a:ext cx="9144000" cy="1098395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By: Olugbenga </a:t>
            </a:r>
            <a:r>
              <a:rPr lang="en-US" dirty="0" err="1">
                <a:solidFill>
                  <a:srgbClr val="FFFFFF"/>
                </a:solidFill>
              </a:rPr>
              <a:t>Adegoroye</a:t>
            </a:r>
            <a:r>
              <a:rPr lang="en-US" dirty="0">
                <a:solidFill>
                  <a:srgbClr val="FFFFFF"/>
                </a:solidFill>
              </a:rPr>
              <a:t>, Richard Evans, Miguel Mora, and </a:t>
            </a:r>
            <a:r>
              <a:rPr lang="en-US" dirty="0" err="1">
                <a:solidFill>
                  <a:srgbClr val="FFFFFF"/>
                </a:solidFill>
              </a:rPr>
              <a:t>Akinbobola</a:t>
            </a:r>
            <a:r>
              <a:rPr lang="en-US" dirty="0">
                <a:solidFill>
                  <a:srgbClr val="FFFFFF"/>
                </a:solidFill>
              </a:rPr>
              <a:t> Akinpelu.</a:t>
            </a:r>
          </a:p>
          <a:p>
            <a:r>
              <a:rPr lang="en-US" dirty="0">
                <a:solidFill>
                  <a:srgbClr val="FFFFFF"/>
                </a:solidFill>
              </a:rPr>
              <a:t>Course: ITAI2277 Fall 2025 </a:t>
            </a:r>
          </a:p>
          <a:p>
            <a:r>
              <a:rPr lang="en-US" dirty="0">
                <a:solidFill>
                  <a:srgbClr val="FFFFFF"/>
                </a:solidFill>
              </a:rPr>
              <a:t>Professor: Sitaram Ayyagari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0D8F8-5E94-B05F-17EA-B8DC49CF36FD}"/>
              </a:ext>
            </a:extLst>
          </p:cNvPr>
          <p:cNvSpPr txBox="1"/>
          <p:nvPr/>
        </p:nvSpPr>
        <p:spPr>
          <a:xfrm>
            <a:off x="2960914" y="5431971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https://github.com/DrahcirSnave/Predictive-Maintenance-Capstone-2025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865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8FC80-C4B7-EF88-5F4D-672CCFFCA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Our Goal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56A4B7-460B-C630-BB7B-77A71903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Problem: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Machines often fail unexpectedly, causing downtime and high repair costs.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Current maintenance methods are either too late or too frequent.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50"/>
                </a:solidFill>
              </a:rPr>
              <a:t>Our goal: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Predict failures before they happen using Artificial Intelligence.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system will help save money, reduce downtime, and improve safety.</a:t>
            </a:r>
          </a:p>
        </p:txBody>
      </p:sp>
    </p:spTree>
    <p:extLst>
      <p:ext uri="{BB962C8B-B14F-4D97-AF65-F5344CB8AC3E}">
        <p14:creationId xmlns:p14="http://schemas.microsoft.com/office/powerpoint/2010/main" val="2786303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8AC26-5F11-83D4-8D59-5539136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Outline</a:t>
            </a:r>
          </a:p>
        </p:txBody>
      </p:sp>
      <p:pic>
        <p:nvPicPr>
          <p:cNvPr id="1026" name="Picture 2" descr="106+ Thousand Health Check Icon Royalty-Free Images, Stock Photos &amp;  Pictures | Shutterstock">
            <a:extLst>
              <a:ext uri="{FF2B5EF4-FFF2-40B4-BE49-F238E27FC236}">
                <a16:creationId xmlns:a16="http://schemas.microsoft.com/office/drawing/2014/main" id="{F6FF0182-0BA8-CBB7-2660-AFF20532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9" r="-1" b="43"/>
          <a:stretch>
            <a:fillRect/>
          </a:stretch>
        </p:blipFill>
        <p:spPr bwMode="auto">
          <a:xfrm>
            <a:off x="708914" y="1159495"/>
            <a:ext cx="4754947" cy="4827569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6058-BDC0-4738-C22F-299E141D1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use AI to analyze machine sensor data like a “health check.”</a:t>
            </a:r>
          </a:p>
          <a:p>
            <a:r>
              <a:rPr lang="en-US" dirty="0">
                <a:solidFill>
                  <a:schemeClr val="bg1"/>
                </a:solidFill>
              </a:rPr>
              <a:t>The model predicts the </a:t>
            </a:r>
            <a:r>
              <a:rPr lang="en-US" dirty="0">
                <a:solidFill>
                  <a:srgbClr val="FFFF00"/>
                </a:solidFill>
              </a:rPr>
              <a:t>Remaining Useful Life (RUL) </a:t>
            </a:r>
            <a:r>
              <a:rPr lang="en-US" dirty="0">
                <a:solidFill>
                  <a:schemeClr val="bg1"/>
                </a:solidFill>
              </a:rPr>
              <a:t>of equipment.</a:t>
            </a:r>
          </a:p>
          <a:p>
            <a:r>
              <a:rPr lang="en-US" dirty="0">
                <a:solidFill>
                  <a:schemeClr val="bg1"/>
                </a:solidFill>
              </a:rPr>
              <a:t>A dashboard shows clear alerts and easy-to-read graphs.</a:t>
            </a:r>
          </a:p>
          <a:p>
            <a:r>
              <a:rPr lang="en-US" dirty="0">
                <a:solidFill>
                  <a:schemeClr val="bg1"/>
                </a:solidFill>
              </a:rPr>
              <a:t>The solution is scalable and designed for businesses.</a:t>
            </a:r>
          </a:p>
        </p:txBody>
      </p:sp>
      <p:grpSp>
        <p:nvGrpSpPr>
          <p:cNvPr id="1037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076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75EC-743C-BB34-7148-AE002CC9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7A303AC-A8A8-E1B8-8381-42E69C4F4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0028AA1-01DF-0A56-664B-43484D5A2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F249-77AE-48BF-3D35-910E86D18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4800">
                <a:solidFill>
                  <a:srgbClr val="00B0F0"/>
                </a:solidFill>
              </a:rPr>
              <a:t>ML Process Flow</a:t>
            </a:r>
            <a:endParaRPr lang="en-US" sz="4800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4C4C8-FCD2-EDB7-4D01-D396BF7A0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80" y="1969358"/>
            <a:ext cx="5441290" cy="3850724"/>
          </a:xfrm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Collect real-world turbofan engine data from NASA.</a:t>
            </a:r>
          </a:p>
          <a:p>
            <a:r>
              <a:rPr lang="en-US" dirty="0">
                <a:solidFill>
                  <a:schemeClr val="bg1"/>
                </a:solidFill>
              </a:rPr>
              <a:t>Clean and prepare the data for analysis.</a:t>
            </a:r>
          </a:p>
          <a:p>
            <a:r>
              <a:rPr lang="en-US" dirty="0">
                <a:solidFill>
                  <a:schemeClr val="bg1"/>
                </a:solidFill>
              </a:rPr>
              <a:t>Train AI models to learn patterns of machine degradation.</a:t>
            </a:r>
          </a:p>
          <a:p>
            <a:r>
              <a:rPr lang="en-US" dirty="0">
                <a:solidFill>
                  <a:schemeClr val="bg1"/>
                </a:solidFill>
              </a:rPr>
              <a:t>Deploy predictions to a dashboard for real-time monitoring.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8D17D3-A7FA-7CA0-CAE7-99D915A7E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590" y="1969358"/>
            <a:ext cx="6374200" cy="35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0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Rectangle 225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5" name="Freeform: Shape 2066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256" name="Freeform: Shape 2068">
            <a:extLst>
              <a:ext uri="{FF2B5EF4-FFF2-40B4-BE49-F238E27FC236}">
                <a16:creationId xmlns:a16="http://schemas.microsoft.com/office/drawing/2014/main" id="{F8875E4C-CFFE-4552-ABC7-175C3CB75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7F6A0-AEA8-FD66-6D7D-B5F78899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305" y="245253"/>
            <a:ext cx="5500887" cy="1856176"/>
          </a:xfrm>
        </p:spPr>
        <p:txBody>
          <a:bodyPr anchor="b"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Core Modeling and Tools</a:t>
            </a:r>
          </a:p>
        </p:txBody>
      </p:sp>
      <p:sp>
        <p:nvSpPr>
          <p:cNvPr id="2257" name="Freeform: Shape 2070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58" name="Freeform: Shape 2072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E748-16EA-0AC4-F62A-EE446239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05" y="2734340"/>
            <a:ext cx="6371697" cy="4044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Random Forest Classifier </a:t>
            </a:r>
            <a:r>
              <a:rPr lang="en-US" dirty="0">
                <a:solidFill>
                  <a:schemeClr val="bg1"/>
                </a:solidFill>
              </a:rPr>
              <a:t>predicts binary failures in less than 30 cycles.</a:t>
            </a:r>
          </a:p>
          <a:p>
            <a:r>
              <a:rPr lang="en-US" dirty="0">
                <a:solidFill>
                  <a:srgbClr val="FFFF00"/>
                </a:solidFill>
              </a:rPr>
              <a:t>LSTM</a:t>
            </a:r>
            <a:r>
              <a:rPr lang="en-US" dirty="0">
                <a:solidFill>
                  <a:schemeClr val="bg1"/>
                </a:solidFill>
              </a:rPr>
              <a:t> Neural Network learns time-series patterns for </a:t>
            </a:r>
            <a:r>
              <a:rPr lang="en-US" dirty="0">
                <a:solidFill>
                  <a:srgbClr val="FFFF00"/>
                </a:solidFill>
              </a:rPr>
              <a:t>RUL</a:t>
            </a:r>
            <a:r>
              <a:rPr lang="en-US" dirty="0">
                <a:solidFill>
                  <a:schemeClr val="bg1"/>
                </a:solidFill>
              </a:rPr>
              <a:t> prediction.</a:t>
            </a:r>
          </a:p>
          <a:p>
            <a:r>
              <a:rPr lang="en-US" dirty="0">
                <a:solidFill>
                  <a:schemeClr val="bg1"/>
                </a:solidFill>
              </a:rPr>
              <a:t>Visualization: </a:t>
            </a:r>
            <a:r>
              <a:rPr lang="en-US" dirty="0">
                <a:solidFill>
                  <a:srgbClr val="FFFF00"/>
                </a:solidFill>
              </a:rPr>
              <a:t>Matplotlib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rgbClr val="FFFF00"/>
                </a:solidFill>
              </a:rPr>
              <a:t>Seaborn</a:t>
            </a:r>
            <a:r>
              <a:rPr lang="en-US" dirty="0">
                <a:solidFill>
                  <a:schemeClr val="bg1"/>
                </a:solidFill>
              </a:rPr>
              <a:t> for plots and sensor analysis.</a:t>
            </a:r>
          </a:p>
        </p:txBody>
      </p:sp>
      <p:sp>
        <p:nvSpPr>
          <p:cNvPr id="2259" name="Freeform: Shape 2074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60" name="Freeform: Shape 2076">
            <a:extLst>
              <a:ext uri="{FF2B5EF4-FFF2-40B4-BE49-F238E27FC236}">
                <a16:creationId xmlns:a16="http://schemas.microsoft.com/office/drawing/2014/main" id="{53812026-3FC6-44DA-94EF-3B8164049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60" name="Picture 12" descr="random forest algorithm icon color illustration 49829078 Vector Art at  Vecteezy">
            <a:extLst>
              <a:ext uri="{FF2B5EF4-FFF2-40B4-BE49-F238E27FC236}">
                <a16:creationId xmlns:a16="http://schemas.microsoft.com/office/drawing/2014/main" id="{0FA590FE-BC9F-B97A-9CD4-3249639A0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73" y="2923953"/>
            <a:ext cx="3454390" cy="3454390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scussion of seaborn logo · Issue #2243 · mwaskom/seaborn">
            <a:extLst>
              <a:ext uri="{FF2B5EF4-FFF2-40B4-BE49-F238E27FC236}">
                <a16:creationId xmlns:a16="http://schemas.microsoft.com/office/drawing/2014/main" id="{36F7A310-0000-54A7-9BEB-815CB2B6F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"/>
          <a:stretch>
            <a:fillRect/>
          </a:stretch>
        </p:blipFill>
        <p:spPr bwMode="auto">
          <a:xfrm>
            <a:off x="8444193" y="156675"/>
            <a:ext cx="2952748" cy="2952748"/>
          </a:xfrm>
          <a:custGeom>
            <a:avLst/>
            <a:gdLst/>
            <a:ahLst/>
            <a:cxnLst/>
            <a:rect l="l" t="t" r="r" b="b"/>
            <a:pathLst>
              <a:path w="2361890" h="2361890">
                <a:moveTo>
                  <a:pt x="1180945" y="0"/>
                </a:moveTo>
                <a:cubicBezTo>
                  <a:pt x="1833163" y="0"/>
                  <a:pt x="2361890" y="528727"/>
                  <a:pt x="2361890" y="1180945"/>
                </a:cubicBezTo>
                <a:cubicBezTo>
                  <a:pt x="2361890" y="1833163"/>
                  <a:pt x="1833163" y="2361890"/>
                  <a:pt x="1180945" y="2361890"/>
                </a:cubicBezTo>
                <a:cubicBezTo>
                  <a:pt x="528727" y="2361890"/>
                  <a:pt x="0" y="1833163"/>
                  <a:pt x="0" y="1180945"/>
                </a:cubicBezTo>
                <a:cubicBezTo>
                  <a:pt x="0" y="528727"/>
                  <a:pt x="528727" y="0"/>
                  <a:pt x="118094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6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2" name="Freeform: Shape 2080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3" name="Freeform: Shape 2082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4" name="Freeform: Shape 2083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47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Rectangle 309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0C470-1CBD-4C2A-93F5-ADBCF566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129" y="516782"/>
            <a:ext cx="6437871" cy="106720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Technology Stack: Front-End and Dashboard</a:t>
            </a:r>
          </a:p>
        </p:txBody>
      </p:sp>
      <p:pic>
        <p:nvPicPr>
          <p:cNvPr id="3074" name="Picture 2" descr="GitHub - shap/shap: A game theoretic approach to explain the output of any  machine learning model.">
            <a:extLst>
              <a:ext uri="{FF2B5EF4-FFF2-40B4-BE49-F238E27FC236}">
                <a16:creationId xmlns:a16="http://schemas.microsoft.com/office/drawing/2014/main" id="{2F867AD0-50A8-81DC-BC56-3F233968F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01" name="Group 3100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082" name="Freeform: Shape 308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102" name="Freeform: Shape 308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CBD98-41BC-2DCF-2DD3-721ACFAC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645" y="1870570"/>
            <a:ext cx="521717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Streamlit Dashboard </a:t>
            </a:r>
            <a:r>
              <a:rPr lang="en-US" dirty="0">
                <a:solidFill>
                  <a:schemeClr val="bg1"/>
                </a:solidFill>
              </a:rPr>
              <a:t>provides real-time monitoring and alerts.</a:t>
            </a:r>
          </a:p>
          <a:p>
            <a:r>
              <a:rPr lang="en-US" dirty="0">
                <a:solidFill>
                  <a:schemeClr val="bg1"/>
                </a:solidFill>
              </a:rPr>
              <a:t>Displays </a:t>
            </a:r>
            <a:r>
              <a:rPr lang="en-US" dirty="0">
                <a:solidFill>
                  <a:srgbClr val="FFFF00"/>
                </a:solidFill>
              </a:rPr>
              <a:t>Remaining Useful Life </a:t>
            </a:r>
            <a:r>
              <a:rPr lang="en-US" dirty="0">
                <a:solidFill>
                  <a:schemeClr val="bg1"/>
                </a:solidFill>
              </a:rPr>
              <a:t>curves and failure probabilities.</a:t>
            </a:r>
          </a:p>
          <a:p>
            <a:r>
              <a:rPr lang="en-US" dirty="0">
                <a:solidFill>
                  <a:schemeClr val="bg1"/>
                </a:solidFill>
              </a:rPr>
              <a:t>Integrates </a:t>
            </a:r>
            <a:r>
              <a:rPr lang="en-US" dirty="0">
                <a:solidFill>
                  <a:srgbClr val="FFFF00"/>
                </a:solidFill>
              </a:rPr>
              <a:t>SHAP </a:t>
            </a:r>
            <a:r>
              <a:rPr lang="en-US" dirty="0">
                <a:solidFill>
                  <a:schemeClr val="bg1"/>
                </a:solidFill>
              </a:rPr>
              <a:t>explainability to highlight sensor importance.</a:t>
            </a:r>
          </a:p>
          <a:p>
            <a:r>
              <a:rPr lang="en-US" dirty="0">
                <a:solidFill>
                  <a:srgbClr val="FFFF00"/>
                </a:solidFill>
              </a:rPr>
              <a:t>SHAP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SHapley</a:t>
            </a:r>
            <a:r>
              <a:rPr lang="en-US" dirty="0">
                <a:solidFill>
                  <a:schemeClr val="bg1"/>
                </a:solidFill>
              </a:rPr>
              <a:t> Additive </a:t>
            </a:r>
            <a:r>
              <a:rPr lang="en-US" dirty="0" err="1">
                <a:solidFill>
                  <a:schemeClr val="bg1"/>
                </a:solidFill>
              </a:rPr>
              <a:t>exPlanations</a:t>
            </a:r>
            <a:r>
              <a:rPr lang="en-US" dirty="0">
                <a:solidFill>
                  <a:schemeClr val="bg1"/>
                </a:solidFill>
              </a:rPr>
              <a:t>) is a method that explains ML predictions by showing how each feature contributes to the outcome.</a:t>
            </a:r>
          </a:p>
          <a:p>
            <a:r>
              <a:rPr lang="en-US" dirty="0">
                <a:solidFill>
                  <a:schemeClr val="bg1"/>
                </a:solidFill>
              </a:rPr>
              <a:t>Designed for easy use by non-technical operators.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103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86" name="Freeform: Shape 3085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4" name="Freeform: Shape 3086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8" name="Freeform: Shape 308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5" name="Freeform: Shape 3088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0" name="Freeform: Shape 308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406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A16E2-1870-4AC1-601B-EA2456CB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Technical Stack: Hardware and Environment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5" name="Picture 2" descr="Google Colab - Wikipedia">
            <a:extLst>
              <a:ext uri="{FF2B5EF4-FFF2-40B4-BE49-F238E27FC236}">
                <a16:creationId xmlns:a16="http://schemas.microsoft.com/office/drawing/2014/main" id="{351C8C69-7E63-7189-26BC-018FB761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9077" y="2551919"/>
            <a:ext cx="3217333" cy="1841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7F74-6508-A311-6AC6-2D7A63F8D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686" y="2023413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Built and tested in the </a:t>
            </a:r>
            <a:r>
              <a:rPr lang="en-US" dirty="0">
                <a:solidFill>
                  <a:srgbClr val="FFFF00"/>
                </a:solidFill>
              </a:rPr>
              <a:t>Google Colab</a:t>
            </a:r>
            <a:r>
              <a:rPr lang="en-US" dirty="0">
                <a:solidFill>
                  <a:schemeClr val="bg1"/>
                </a:solidFill>
              </a:rPr>
              <a:t> cloud environment.</a:t>
            </a:r>
          </a:p>
          <a:p>
            <a:r>
              <a:rPr lang="en-US" dirty="0">
                <a:solidFill>
                  <a:srgbClr val="FFFF00"/>
                </a:solidFill>
              </a:rPr>
              <a:t>TensorFlow </a:t>
            </a:r>
            <a:r>
              <a:rPr lang="en-US" dirty="0">
                <a:solidFill>
                  <a:schemeClr val="bg1"/>
                </a:solidFill>
              </a:rPr>
              <a:t>2.19 and </a:t>
            </a:r>
            <a:r>
              <a:rPr lang="en-US" dirty="0">
                <a:solidFill>
                  <a:srgbClr val="FFFF00"/>
                </a:solidFill>
              </a:rPr>
              <a:t>Pandas </a:t>
            </a:r>
            <a:r>
              <a:rPr lang="en-US" dirty="0">
                <a:solidFill>
                  <a:schemeClr val="bg1"/>
                </a:solidFill>
              </a:rPr>
              <a:t>2.2.2 ensure compatibility.</a:t>
            </a:r>
          </a:p>
          <a:p>
            <a:r>
              <a:rPr lang="en-US" dirty="0">
                <a:solidFill>
                  <a:schemeClr val="bg1"/>
                </a:solidFill>
              </a:rPr>
              <a:t>Runs efficiently on standard CPUs and GPUs.</a:t>
            </a:r>
          </a:p>
          <a:p>
            <a:r>
              <a:rPr lang="en-US" dirty="0">
                <a:solidFill>
                  <a:schemeClr val="bg1"/>
                </a:solidFill>
              </a:rPr>
              <a:t>Scalable design for industrial deployment.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759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538D-69A7-ABF8-0FEE-14A227A8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Demo of the Product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59E4DF42-9AA5-BA3C-3529-53F24F20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9077" y="1864214"/>
            <a:ext cx="3217333" cy="321733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795BF-3D4C-9BFF-CC9D-A9D48B06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Input: </a:t>
            </a:r>
            <a:r>
              <a:rPr lang="en-US" dirty="0">
                <a:solidFill>
                  <a:schemeClr val="bg1"/>
                </a:solidFill>
              </a:rPr>
              <a:t>Sensor readings from industrial equipment.</a:t>
            </a:r>
          </a:p>
          <a:p>
            <a:r>
              <a:rPr lang="en-US" dirty="0">
                <a:solidFill>
                  <a:srgbClr val="00B050"/>
                </a:solidFill>
              </a:rPr>
              <a:t>Output: </a:t>
            </a:r>
            <a:r>
              <a:rPr lang="en-US" dirty="0">
                <a:solidFill>
                  <a:schemeClr val="bg1"/>
                </a:solidFill>
              </a:rPr>
              <a:t>AI predicts Remaining Useful Life in hours or cycles.</a:t>
            </a:r>
          </a:p>
          <a:p>
            <a:r>
              <a:rPr lang="en-US" dirty="0">
                <a:solidFill>
                  <a:schemeClr val="bg1"/>
                </a:solidFill>
              </a:rPr>
              <a:t>Dashboard shows alerts and degradation curves.</a:t>
            </a:r>
          </a:p>
          <a:p>
            <a:r>
              <a:rPr lang="en-US" dirty="0">
                <a:solidFill>
                  <a:schemeClr val="bg1"/>
                </a:solidFill>
              </a:rPr>
              <a:t>Users can act before breakdowns occur.</a:t>
            </a:r>
          </a:p>
          <a:p>
            <a:r>
              <a:rPr lang="en-US" dirty="0">
                <a:solidFill>
                  <a:schemeClr val="bg1"/>
                </a:solidFill>
                <a:hlinkClick r:id="rId4"/>
              </a:rPr>
              <a:t>https://github.com/DrahcirSnave/Predictive-Maintenance-Capstone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737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7D42B-BA98-8C27-974F-035E4B76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Libraries</a:t>
            </a:r>
          </a:p>
        </p:txBody>
      </p:sp>
      <p:pic>
        <p:nvPicPr>
          <p:cNvPr id="4100" name="Picture 4" descr="Numpy Logo PNG Vectors Free Download">
            <a:extLst>
              <a:ext uri="{FF2B5EF4-FFF2-40B4-BE49-F238E27FC236}">
                <a16:creationId xmlns:a16="http://schemas.microsoft.com/office/drawing/2014/main" id="{A8FE4C5B-870C-D4FE-83B1-5C511B4A8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4113" name="Freeform: Shape 411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114" name="Freeform: Shape 411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57516-2B7C-AF2F-6438-4A8A76E4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NumPy</a:t>
            </a:r>
            <a:r>
              <a:rPr lang="en-US" dirty="0">
                <a:solidFill>
                  <a:schemeClr val="bg1"/>
                </a:solidFill>
              </a:rPr>
              <a:t> and Pandas for data handling.</a:t>
            </a:r>
          </a:p>
          <a:p>
            <a:r>
              <a:rPr lang="en-US" dirty="0">
                <a:solidFill>
                  <a:srgbClr val="FFFF00"/>
                </a:solidFill>
              </a:rPr>
              <a:t>Scikit-learn</a:t>
            </a:r>
            <a:r>
              <a:rPr lang="en-US" dirty="0">
                <a:solidFill>
                  <a:schemeClr val="bg1"/>
                </a:solidFill>
              </a:rPr>
              <a:t> for </a:t>
            </a:r>
            <a:r>
              <a:rPr lang="en-US" dirty="0">
                <a:solidFill>
                  <a:srgbClr val="FFFF00"/>
                </a:solidFill>
              </a:rPr>
              <a:t>Random Forest </a:t>
            </a:r>
            <a:r>
              <a:rPr lang="en-US" dirty="0">
                <a:solidFill>
                  <a:schemeClr val="bg1"/>
                </a:solidFill>
              </a:rPr>
              <a:t>classification.</a:t>
            </a:r>
          </a:p>
          <a:p>
            <a:r>
              <a:rPr lang="en-US" dirty="0">
                <a:solidFill>
                  <a:srgbClr val="FFFF00"/>
                </a:solidFill>
              </a:rPr>
              <a:t>TensorFlow/Keras</a:t>
            </a:r>
            <a:r>
              <a:rPr lang="en-US" dirty="0">
                <a:solidFill>
                  <a:schemeClr val="bg1"/>
                </a:solidFill>
              </a:rPr>
              <a:t> for </a:t>
            </a:r>
            <a:r>
              <a:rPr lang="en-US" dirty="0">
                <a:solidFill>
                  <a:srgbClr val="FFFF00"/>
                </a:solidFill>
              </a:rPr>
              <a:t>LSTM</a:t>
            </a:r>
            <a:r>
              <a:rPr lang="en-US" dirty="0">
                <a:solidFill>
                  <a:schemeClr val="bg1"/>
                </a:solidFill>
              </a:rPr>
              <a:t> regression.</a:t>
            </a:r>
          </a:p>
          <a:p>
            <a:r>
              <a:rPr lang="en-US" dirty="0">
                <a:solidFill>
                  <a:srgbClr val="FFFF00"/>
                </a:solidFill>
              </a:rPr>
              <a:t>SHAP</a:t>
            </a:r>
            <a:r>
              <a:rPr lang="en-US" dirty="0">
                <a:solidFill>
                  <a:schemeClr val="bg1"/>
                </a:solidFill>
              </a:rPr>
              <a:t> for explainability.</a:t>
            </a:r>
          </a:p>
          <a:p>
            <a:r>
              <a:rPr lang="en-US" dirty="0">
                <a:solidFill>
                  <a:srgbClr val="FFFF00"/>
                </a:solidFill>
              </a:rPr>
              <a:t>Matplotlib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rgbClr val="FFFF00"/>
                </a:solidFill>
              </a:rPr>
              <a:t>Seaborn</a:t>
            </a:r>
            <a:r>
              <a:rPr lang="en-US" dirty="0">
                <a:solidFill>
                  <a:schemeClr val="bg1"/>
                </a:solidFill>
              </a:rPr>
              <a:t> for visualization.</a:t>
            </a:r>
          </a:p>
        </p:txBody>
      </p:sp>
      <p:grpSp>
        <p:nvGrpSpPr>
          <p:cNvPr id="411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9" name="Freeform: Shape 411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0" name="Freeform: Shape 411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1" name="Freeform: Shape 412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335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57EB0-193A-0F60-F0B1-D4BDBCB6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079" y="225571"/>
            <a:ext cx="5327768" cy="784599"/>
          </a:xfrm>
        </p:spPr>
        <p:txBody>
          <a:bodyPr anchor="b">
            <a:no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ABCA-6892-FC88-9DBC-C7E82B94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005" y="1662851"/>
            <a:ext cx="5200379" cy="392296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Removed constant sensors with no variation.</a:t>
            </a:r>
          </a:p>
          <a:p>
            <a:r>
              <a:rPr lang="en-US" dirty="0">
                <a:solidFill>
                  <a:schemeClr val="bg1"/>
                </a:solidFill>
              </a:rPr>
              <a:t>Engineered features: </a:t>
            </a:r>
            <a:r>
              <a:rPr lang="en-US" dirty="0">
                <a:solidFill>
                  <a:srgbClr val="FFFF00"/>
                </a:solidFill>
              </a:rPr>
              <a:t>rolling mean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rgbClr val="FFFF00"/>
                </a:solidFill>
              </a:rPr>
              <a:t>rolling standard deviation(std)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rgbClr val="FFFF00"/>
                </a:solidFill>
              </a:rPr>
              <a:t>rate of change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Created binary failure labels within 30 cycles.</a:t>
            </a:r>
          </a:p>
          <a:p>
            <a:r>
              <a:rPr lang="en-US" dirty="0">
                <a:solidFill>
                  <a:schemeClr val="bg1"/>
                </a:solidFill>
              </a:rPr>
              <a:t>Normalized features using </a:t>
            </a:r>
            <a:r>
              <a:rPr lang="en-US" dirty="0" err="1">
                <a:solidFill>
                  <a:srgbClr val="FFFF00"/>
                </a:solidFill>
              </a:rPr>
              <a:t>MinMaxScaler</a:t>
            </a:r>
            <a:r>
              <a:rPr lang="en-US" dirty="0">
                <a:solidFill>
                  <a:srgbClr val="FFFF00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92804-00B3-6359-8567-E0F2555F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7" y="139272"/>
            <a:ext cx="6096000" cy="6579455"/>
          </a:xfrm>
          <a:prstGeom prst="rect">
            <a:avLst/>
          </a:prstGeom>
        </p:spPr>
      </p:pic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215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A06AE7-2C93-6790-30E6-59FAA376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Model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15FB-AF64-0F69-3828-345993C92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908" y="684921"/>
            <a:ext cx="7186636" cy="1951087"/>
          </a:xfrm>
          <a:noFill/>
        </p:spPr>
        <p:txBody>
          <a:bodyPr anchor="t">
            <a:no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Random Forest </a:t>
            </a:r>
            <a:r>
              <a:rPr lang="en-US" sz="2400" dirty="0">
                <a:solidFill>
                  <a:schemeClr val="bg1"/>
                </a:solidFill>
              </a:rPr>
              <a:t>classifier trained for binary outcomes.</a:t>
            </a:r>
          </a:p>
          <a:p>
            <a:r>
              <a:rPr lang="en-US" sz="2400" dirty="0">
                <a:solidFill>
                  <a:srgbClr val="FFFF00"/>
                </a:solidFill>
              </a:rPr>
              <a:t>LSTM </a:t>
            </a:r>
            <a:r>
              <a:rPr lang="en-US" sz="2400" dirty="0">
                <a:solidFill>
                  <a:schemeClr val="bg1"/>
                </a:solidFill>
              </a:rPr>
              <a:t>trained on sequences for RUL prediction.</a:t>
            </a:r>
          </a:p>
          <a:p>
            <a:r>
              <a:rPr lang="en-US" sz="2400" dirty="0" err="1">
                <a:solidFill>
                  <a:srgbClr val="FFFF00"/>
                </a:solidFill>
              </a:rPr>
              <a:t>EarlyStoppping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used to prevent overfitting.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Evaluation with </a:t>
            </a:r>
            <a:r>
              <a:rPr lang="en-US" sz="2400" dirty="0">
                <a:solidFill>
                  <a:srgbClr val="FFFF00"/>
                </a:solidFill>
              </a:rPr>
              <a:t>accuracy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rgbClr val="FFFF00"/>
                </a:solidFill>
              </a:rPr>
              <a:t>precision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>
                <a:solidFill>
                  <a:srgbClr val="FFFF00"/>
                </a:solidFill>
              </a:rPr>
              <a:t>recall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dirty="0">
                <a:solidFill>
                  <a:srgbClr val="FFFF00"/>
                </a:solidFill>
              </a:rPr>
              <a:t>F1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2852760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51B7AF-F249-74A7-9CFE-ACCB8FE9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5" y="2817654"/>
            <a:ext cx="11733548" cy="390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9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ECC0-6443-5525-7F4B-0F9164D4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06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Code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FB3BD-C645-B666-42D2-2620421B6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006" y="2141537"/>
            <a:ext cx="3899338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acquisition from the </a:t>
            </a:r>
            <a:r>
              <a:rPr lang="en-US" dirty="0">
                <a:solidFill>
                  <a:srgbClr val="FFFF00"/>
                </a:solidFill>
              </a:rPr>
              <a:t>NASA CMAPSS </a:t>
            </a:r>
            <a:r>
              <a:rPr lang="en-US" dirty="0">
                <a:solidFill>
                  <a:schemeClr val="bg1"/>
                </a:solidFill>
              </a:rPr>
              <a:t>dataset.</a:t>
            </a:r>
          </a:p>
          <a:p>
            <a:r>
              <a:rPr lang="en-US" dirty="0">
                <a:solidFill>
                  <a:schemeClr val="bg1"/>
                </a:solidFill>
              </a:rPr>
              <a:t>Preprocessing pipeline with feature engineering.</a:t>
            </a:r>
          </a:p>
          <a:p>
            <a:r>
              <a:rPr lang="en-US" dirty="0">
                <a:solidFill>
                  <a:schemeClr val="bg1"/>
                </a:solidFill>
              </a:rPr>
              <a:t>Training loop and evaluation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79E554-D6B0-DAC4-7823-771F1349B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593" y="1648386"/>
            <a:ext cx="6818586" cy="48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19373</TotalTime>
  <Words>491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AI-Powered Predictive Maintenance System for Industrial Equipment</vt:lpstr>
      <vt:lpstr>Our Goal</vt:lpstr>
      <vt:lpstr>Solution Outline</vt:lpstr>
      <vt:lpstr>ML Process Flow</vt:lpstr>
      <vt:lpstr>Technology Stack: Core Modeling and Tools</vt:lpstr>
      <vt:lpstr>Technology Stack: Front-End and Dashboard</vt:lpstr>
      <vt:lpstr>Technical Stack: Hardware and Environment</vt:lpstr>
      <vt:lpstr>Demo of the Product</vt:lpstr>
      <vt:lpstr>Libraries</vt:lpstr>
      <vt:lpstr>Data Preprocessing</vt:lpstr>
      <vt:lpstr>Model Training </vt:lpstr>
      <vt:lpstr>Code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Mora</dc:creator>
  <cp:lastModifiedBy>Richard Evans</cp:lastModifiedBy>
  <cp:revision>12</cp:revision>
  <dcterms:created xsi:type="dcterms:W3CDTF">2025-11-19T20:59:06Z</dcterms:created>
  <dcterms:modified xsi:type="dcterms:W3CDTF">2025-12-06T16:35:19Z</dcterms:modified>
</cp:coreProperties>
</file>